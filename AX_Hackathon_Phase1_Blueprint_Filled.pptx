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59" r:id="rId6"/>
    <p:sldId id="260" r:id="rId7"/>
    <p:sldId id="263" r:id="rId8"/>
    <p:sldId id="262" r:id="rId9"/>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B8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06" autoAdjust="0"/>
    <p:restoredTop sz="94660"/>
  </p:normalViewPr>
  <p:slideViewPr>
    <p:cSldViewPr snapToGrid="0" snapToObjects="1">
      <p:cViewPr varScale="1">
        <p:scale>
          <a:sx n="86" d="100"/>
          <a:sy n="86" d="100"/>
        </p:scale>
        <p:origin x="237"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8" name="Rounded Rectangle 7"/>
          <p:cNvSpPr/>
          <p:nvPr/>
        </p:nvSpPr>
        <p:spPr>
          <a:xfrm>
            <a:off x="914399" y="3246119"/>
            <a:ext cx="4128655" cy="2517372"/>
          </a:xfrm>
          <a:prstGeom prst="roundRect">
            <a:avLst>
              <a:gd name="adj" fmla="val 8540"/>
            </a:avLst>
          </a:prstGeom>
          <a:solidFill>
            <a:srgbClr val="FFFFFF"/>
          </a:solidFill>
          <a:ln w="19050">
            <a:solidFill>
              <a:srgbClr val="B4C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14400" y="1691640"/>
            <a:ext cx="9939250" cy="960120"/>
          </a:xfrm>
          <a:prstGeom prst="roundRect">
            <a:avLst/>
          </a:prstGeom>
          <a:solidFill>
            <a:srgbClr val="FFFFFF"/>
          </a:solidFill>
          <a:ln w="19050">
            <a:solidFill>
              <a:srgbClr val="B4C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822960"/>
          </a:xfrm>
          <a:prstGeom prst="rect">
            <a:avLst/>
          </a:prstGeom>
          <a:solidFill>
            <a:srgbClr val="003B8E"/>
          </a:solidFill>
          <a:ln>
            <a:solidFill>
              <a:srgbClr val="0B57D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800" b="1" dirty="0">
                <a:solidFill>
                  <a:srgbClr val="FFFFFF"/>
                </a:solidFill>
              </a:rPr>
              <a:t xml:space="preserve">Team </a:t>
            </a:r>
            <a:r>
              <a:rPr lang="en-IN" sz="2800" b="1" dirty="0">
                <a:solidFill>
                  <a:srgbClr val="FFFFFF"/>
                </a:solidFill>
              </a:rPr>
              <a:t>Details</a:t>
            </a:r>
            <a:endParaRPr sz="2800" b="1" dirty="0">
              <a:solidFill>
                <a:srgbClr val="FFFFFF"/>
              </a:solidFill>
            </a:endParaRPr>
          </a:p>
        </p:txBody>
      </p:sp>
      <p:sp>
        <p:nvSpPr>
          <p:cNvPr id="5" name="TextBox 4"/>
          <p:cNvSpPr txBox="1"/>
          <p:nvPr/>
        </p:nvSpPr>
        <p:spPr>
          <a:xfrm>
            <a:off x="914400" y="1280160"/>
            <a:ext cx="7772400" cy="892552"/>
          </a:xfrm>
          <a:prstGeom prst="rect">
            <a:avLst/>
          </a:prstGeom>
          <a:noFill/>
        </p:spPr>
        <p:txBody>
          <a:bodyPr wrap="square">
            <a:spAutoFit/>
          </a:bodyPr>
          <a:lstStyle/>
          <a:p>
            <a:pPr>
              <a:defRPr sz="1800" b="1">
                <a:solidFill>
                  <a:srgbClr val="0B57D0"/>
                </a:solidFill>
              </a:defRPr>
            </a:pPr>
            <a:r>
              <a:rPr dirty="0"/>
              <a:t>Team Name</a:t>
            </a:r>
            <a:endParaRPr lang="en-IN" dirty="0"/>
          </a:p>
          <a:p>
            <a:pPr>
              <a:defRPr sz="1800" b="1">
                <a:solidFill>
                  <a:srgbClr val="0B57D0"/>
                </a:solidFill>
              </a:defRPr>
            </a:pPr>
            <a:endParaRPr dirty="0"/>
          </a:p>
          <a:p>
            <a:pPr>
              <a:defRPr sz="1600" i="1">
                <a:solidFill>
                  <a:srgbClr val="646464"/>
                </a:solidFill>
              </a:defRPr>
            </a:pPr>
            <a:r>
              <a:rPr dirty="0"/>
              <a:t>[Enter your team name here]</a:t>
            </a:r>
          </a:p>
        </p:txBody>
      </p:sp>
      <p:sp>
        <p:nvSpPr>
          <p:cNvPr id="7" name="TextBox 6"/>
          <p:cNvSpPr txBox="1"/>
          <p:nvPr/>
        </p:nvSpPr>
        <p:spPr>
          <a:xfrm>
            <a:off x="997526" y="2873433"/>
            <a:ext cx="3918067" cy="2824106"/>
          </a:xfrm>
          <a:prstGeom prst="rect">
            <a:avLst/>
          </a:prstGeom>
          <a:noFill/>
        </p:spPr>
        <p:txBody>
          <a:bodyPr wrap="square">
            <a:spAutoFit/>
          </a:bodyPr>
          <a:lstStyle/>
          <a:p>
            <a:pPr>
              <a:defRPr sz="1800" b="1">
                <a:solidFill>
                  <a:srgbClr val="0B57D0"/>
                </a:solidFill>
              </a:defRPr>
            </a:pPr>
            <a:r>
              <a:rPr dirty="0"/>
              <a:t>Team Member</a:t>
            </a:r>
            <a:r>
              <a:rPr lang="en-IN" dirty="0"/>
              <a:t xml:space="preserve"> 1</a:t>
            </a:r>
          </a:p>
          <a:p>
            <a:pPr>
              <a:defRPr sz="1800" b="1">
                <a:solidFill>
                  <a:srgbClr val="0B57D0"/>
                </a:solidFill>
              </a:defRPr>
            </a:pPr>
            <a:endParaRPr sz="1100" dirty="0"/>
          </a:p>
          <a:p>
            <a:pPr>
              <a:lnSpc>
                <a:spcPct val="150000"/>
              </a:lnSpc>
              <a:defRPr sz="1600" i="1">
                <a:solidFill>
                  <a:srgbClr val="646464"/>
                </a:solidFill>
              </a:defRPr>
            </a:pPr>
            <a:r>
              <a:rPr dirty="0"/>
              <a:t>Name</a:t>
            </a:r>
            <a:r>
              <a:rPr lang="en-IN" dirty="0"/>
              <a:t xml:space="preserve"> -</a:t>
            </a:r>
          </a:p>
          <a:p>
            <a:pPr>
              <a:lnSpc>
                <a:spcPct val="150000"/>
              </a:lnSpc>
              <a:defRPr sz="1600" i="1">
                <a:solidFill>
                  <a:srgbClr val="646464"/>
                </a:solidFill>
              </a:defRPr>
            </a:pPr>
            <a:r>
              <a:rPr dirty="0"/>
              <a:t>College</a:t>
            </a:r>
            <a:r>
              <a:rPr lang="en-IN" dirty="0"/>
              <a:t xml:space="preserve"> -</a:t>
            </a:r>
          </a:p>
          <a:p>
            <a:pPr>
              <a:lnSpc>
                <a:spcPct val="150000"/>
              </a:lnSpc>
              <a:defRPr sz="1600" i="1">
                <a:solidFill>
                  <a:srgbClr val="646464"/>
                </a:solidFill>
              </a:defRPr>
            </a:pPr>
            <a:r>
              <a:rPr lang="en-IN" dirty="0"/>
              <a:t xml:space="preserve">Roll No. - </a:t>
            </a:r>
          </a:p>
          <a:p>
            <a:pPr>
              <a:lnSpc>
                <a:spcPct val="150000"/>
              </a:lnSpc>
              <a:defRPr sz="1600" i="1">
                <a:solidFill>
                  <a:srgbClr val="646464"/>
                </a:solidFill>
              </a:defRPr>
            </a:pPr>
            <a:r>
              <a:rPr lang="en-IN" dirty="0"/>
              <a:t>Email Id -</a:t>
            </a:r>
          </a:p>
          <a:p>
            <a:pPr>
              <a:lnSpc>
                <a:spcPct val="150000"/>
              </a:lnSpc>
              <a:defRPr sz="1600" i="1">
                <a:solidFill>
                  <a:srgbClr val="646464"/>
                </a:solidFill>
              </a:defRPr>
            </a:pPr>
            <a:r>
              <a:rPr lang="en-IN" dirty="0"/>
              <a:t>Degree &amp; Dept. -</a:t>
            </a:r>
          </a:p>
          <a:p>
            <a:pPr>
              <a:lnSpc>
                <a:spcPct val="150000"/>
              </a:lnSpc>
              <a:defRPr sz="1600" i="1">
                <a:solidFill>
                  <a:srgbClr val="646464"/>
                </a:solidFill>
              </a:defRPr>
            </a:pPr>
            <a:r>
              <a:rPr dirty="0"/>
              <a:t>Year</a:t>
            </a:r>
            <a:r>
              <a:rPr lang="en-IN" dirty="0"/>
              <a:t xml:space="preserve"> -</a:t>
            </a:r>
          </a:p>
        </p:txBody>
      </p:sp>
      <p:sp>
        <p:nvSpPr>
          <p:cNvPr id="9" name="Rounded Rectangle 7">
            <a:extLst>
              <a:ext uri="{FF2B5EF4-FFF2-40B4-BE49-F238E27FC236}">
                <a16:creationId xmlns:a16="http://schemas.microsoft.com/office/drawing/2014/main" id="{17877672-196A-489B-8563-E05E972D8FE6}"/>
              </a:ext>
            </a:extLst>
          </p:cNvPr>
          <p:cNvSpPr/>
          <p:nvPr/>
        </p:nvSpPr>
        <p:spPr>
          <a:xfrm>
            <a:off x="6724995" y="3236420"/>
            <a:ext cx="4128655" cy="2522914"/>
          </a:xfrm>
          <a:prstGeom prst="roundRect">
            <a:avLst>
              <a:gd name="adj" fmla="val 5684"/>
            </a:avLst>
          </a:prstGeom>
          <a:solidFill>
            <a:srgbClr val="FFFFFF"/>
          </a:solidFill>
          <a:ln w="19050">
            <a:solidFill>
              <a:srgbClr val="B4C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3CFC0747-F093-4B71-9D33-86675982E7B4}"/>
              </a:ext>
            </a:extLst>
          </p:cNvPr>
          <p:cNvSpPr txBox="1"/>
          <p:nvPr/>
        </p:nvSpPr>
        <p:spPr>
          <a:xfrm>
            <a:off x="6830288" y="2873433"/>
            <a:ext cx="3918067" cy="2824106"/>
          </a:xfrm>
          <a:prstGeom prst="rect">
            <a:avLst/>
          </a:prstGeom>
          <a:noFill/>
        </p:spPr>
        <p:txBody>
          <a:bodyPr wrap="square">
            <a:spAutoFit/>
          </a:bodyPr>
          <a:lstStyle/>
          <a:p>
            <a:pPr>
              <a:defRPr sz="1800" b="1">
                <a:solidFill>
                  <a:srgbClr val="0B57D0"/>
                </a:solidFill>
              </a:defRPr>
            </a:pPr>
            <a:r>
              <a:rPr dirty="0"/>
              <a:t>Team Member</a:t>
            </a:r>
            <a:r>
              <a:rPr lang="en-IN" dirty="0"/>
              <a:t xml:space="preserve"> 2</a:t>
            </a:r>
          </a:p>
          <a:p>
            <a:pPr>
              <a:defRPr sz="1800" b="1">
                <a:solidFill>
                  <a:srgbClr val="0B57D0"/>
                </a:solidFill>
              </a:defRPr>
            </a:pPr>
            <a:endParaRPr sz="1100" dirty="0"/>
          </a:p>
          <a:p>
            <a:pPr>
              <a:lnSpc>
                <a:spcPct val="150000"/>
              </a:lnSpc>
              <a:defRPr sz="1600" i="1">
                <a:solidFill>
                  <a:srgbClr val="646464"/>
                </a:solidFill>
              </a:defRPr>
            </a:pPr>
            <a:r>
              <a:rPr dirty="0"/>
              <a:t>Name</a:t>
            </a:r>
            <a:r>
              <a:rPr lang="en-IN" dirty="0"/>
              <a:t xml:space="preserve"> -</a:t>
            </a:r>
          </a:p>
          <a:p>
            <a:pPr>
              <a:lnSpc>
                <a:spcPct val="150000"/>
              </a:lnSpc>
              <a:defRPr sz="1600" i="1">
                <a:solidFill>
                  <a:srgbClr val="646464"/>
                </a:solidFill>
              </a:defRPr>
            </a:pPr>
            <a:r>
              <a:rPr dirty="0"/>
              <a:t>College</a:t>
            </a:r>
            <a:r>
              <a:rPr lang="en-IN" dirty="0"/>
              <a:t xml:space="preserve"> -</a:t>
            </a:r>
          </a:p>
          <a:p>
            <a:pPr>
              <a:lnSpc>
                <a:spcPct val="150000"/>
              </a:lnSpc>
              <a:defRPr sz="1600" i="1">
                <a:solidFill>
                  <a:srgbClr val="646464"/>
                </a:solidFill>
              </a:defRPr>
            </a:pPr>
            <a:r>
              <a:rPr lang="en-IN" dirty="0"/>
              <a:t xml:space="preserve">Roll No. - </a:t>
            </a:r>
          </a:p>
          <a:p>
            <a:pPr>
              <a:lnSpc>
                <a:spcPct val="150000"/>
              </a:lnSpc>
              <a:defRPr sz="1600" i="1">
                <a:solidFill>
                  <a:srgbClr val="646464"/>
                </a:solidFill>
              </a:defRPr>
            </a:pPr>
            <a:r>
              <a:rPr lang="en-IN" dirty="0"/>
              <a:t>Email Id -</a:t>
            </a:r>
          </a:p>
          <a:p>
            <a:pPr>
              <a:lnSpc>
                <a:spcPct val="150000"/>
              </a:lnSpc>
              <a:defRPr sz="1600" i="1">
                <a:solidFill>
                  <a:srgbClr val="646464"/>
                </a:solidFill>
              </a:defRPr>
            </a:pPr>
            <a:r>
              <a:rPr lang="en-IN" dirty="0"/>
              <a:t>Degree &amp; Dept. -</a:t>
            </a:r>
          </a:p>
          <a:p>
            <a:pPr>
              <a:lnSpc>
                <a:spcPct val="150000"/>
              </a:lnSpc>
              <a:defRPr sz="1600" i="1">
                <a:solidFill>
                  <a:srgbClr val="646464"/>
                </a:solidFill>
              </a:defRPr>
            </a:pPr>
            <a:r>
              <a:rPr dirty="0"/>
              <a:t>Year</a:t>
            </a:r>
            <a:r>
              <a:rPr lang="en-IN" dirty="0"/>
              <a:t xml:space="preserv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8" name="Rounded Rectangle 7"/>
          <p:cNvSpPr/>
          <p:nvPr/>
        </p:nvSpPr>
        <p:spPr>
          <a:xfrm>
            <a:off x="914400" y="3246118"/>
            <a:ext cx="10360024" cy="2977344"/>
          </a:xfrm>
          <a:prstGeom prst="roundRect">
            <a:avLst>
              <a:gd name="adj" fmla="val 5499"/>
            </a:avLst>
          </a:prstGeom>
          <a:solidFill>
            <a:srgbClr val="FFFFFF"/>
          </a:solidFill>
          <a:ln w="19050">
            <a:solidFill>
              <a:srgbClr val="B4C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14401" y="1463039"/>
            <a:ext cx="10360023" cy="960120"/>
          </a:xfrm>
          <a:prstGeom prst="roundRect">
            <a:avLst/>
          </a:prstGeom>
          <a:solidFill>
            <a:srgbClr val="FFFFFF"/>
          </a:solidFill>
          <a:ln w="19050">
            <a:solidFill>
              <a:srgbClr val="B4C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822960"/>
          </a:xfrm>
          <a:prstGeom prst="rect">
            <a:avLst/>
          </a:prstGeom>
          <a:solidFill>
            <a:srgbClr val="003B8E"/>
          </a:solidFill>
          <a:ln>
            <a:solidFill>
              <a:srgbClr val="0B57D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800" b="1" dirty="0">
                <a:solidFill>
                  <a:srgbClr val="FFFFFF"/>
                </a:solidFill>
              </a:rPr>
              <a:t>Problem Statement</a:t>
            </a:r>
          </a:p>
        </p:txBody>
      </p:sp>
      <p:sp>
        <p:nvSpPr>
          <p:cNvPr id="5" name="TextBox 4"/>
          <p:cNvSpPr txBox="1"/>
          <p:nvPr/>
        </p:nvSpPr>
        <p:spPr>
          <a:xfrm>
            <a:off x="914402" y="1051559"/>
            <a:ext cx="10360024" cy="892552"/>
          </a:xfrm>
          <a:prstGeom prst="rect">
            <a:avLst/>
          </a:prstGeom>
          <a:noFill/>
        </p:spPr>
        <p:txBody>
          <a:bodyPr wrap="square">
            <a:spAutoFit/>
          </a:bodyPr>
          <a:lstStyle/>
          <a:p>
            <a:pPr>
              <a:defRPr sz="1800" b="1">
                <a:solidFill>
                  <a:srgbClr val="0B57D0"/>
                </a:solidFill>
              </a:defRPr>
            </a:pPr>
            <a:r>
              <a:rPr dirty="0"/>
              <a:t>Selected Problem</a:t>
            </a:r>
            <a:endParaRPr lang="en-IN" dirty="0"/>
          </a:p>
          <a:p>
            <a:pPr>
              <a:defRPr sz="1800" b="1">
                <a:solidFill>
                  <a:srgbClr val="0B57D0"/>
                </a:solidFill>
              </a:defRPr>
            </a:pPr>
            <a:endParaRPr dirty="0"/>
          </a:p>
          <a:p>
            <a:pPr>
              <a:defRPr sz="1600">
                <a:solidFill>
                  <a:srgbClr val="1A1A1A"/>
                </a:solidFill>
              </a:defRPr>
            </a:pPr>
            <a:r>
              <a:rPr lang="en-IN" dirty="0"/>
              <a:t>Problem Statement 1: Build a Vision-Language-Action Robotic System for Natural Language Object Manipulation</a:t>
            </a:r>
          </a:p>
        </p:txBody>
      </p:sp>
      <p:sp>
        <p:nvSpPr>
          <p:cNvPr id="7" name="TextBox 6"/>
          <p:cNvSpPr txBox="1"/>
          <p:nvPr/>
        </p:nvSpPr>
        <p:spPr>
          <a:xfrm>
            <a:off x="914399" y="2834639"/>
            <a:ext cx="10360025" cy="892552"/>
          </a:xfrm>
          <a:prstGeom prst="rect">
            <a:avLst/>
          </a:prstGeom>
          <a:noFill/>
        </p:spPr>
        <p:txBody>
          <a:bodyPr wrap="square">
            <a:spAutoFit/>
          </a:bodyPr>
          <a:lstStyle/>
          <a:p>
            <a:pPr>
              <a:defRPr sz="1800" b="1">
                <a:solidFill>
                  <a:srgbClr val="0B57D0"/>
                </a:solidFill>
              </a:defRPr>
            </a:pPr>
            <a:r>
              <a:rPr dirty="0"/>
              <a:t>Problem Understanding</a:t>
            </a:r>
            <a:endParaRPr lang="en-IN" dirty="0"/>
          </a:p>
          <a:p>
            <a:pPr>
              <a:defRPr sz="1800" b="1">
                <a:solidFill>
                  <a:srgbClr val="0B57D0"/>
                </a:solidFill>
              </a:defRPr>
            </a:pPr>
            <a:endParaRPr dirty="0"/>
          </a:p>
          <a:p>
            <a:pPr>
              <a:lnSpc>
                <a:spcPts val="1400"/>
              </a:lnSpc>
              <a:defRPr sz="1400">
                <a:solidFill>
                  <a:srgbClr val="1A1A1A"/>
                </a:solidFill>
              </a:defRPr>
            </a:pPr>
            <a:r>
              <a:rPr lang="en-IN" b="1" dirty="0"/>
              <a:t>Core Challenge:</a:t>
            </a:r>
            <a:r>
              <a:rPr lang="en-IN" dirty="0"/>
              <a:t xml:space="preserve"> Natural-language robotic manipulation requires connecting three distinct competencies in a unified system: (1) Perception - understanding which objects exist, their positions and attributes; (2) Language Understanding - converting a human instruction into a grounded, machine-executable goal; and (3) Action Execution - planning and executing motor actions that transform the scene into the desired state.</a:t>
            </a:r>
          </a:p>
          <a:p>
            <a:pPr>
              <a:lnSpc>
                <a:spcPts val="1400"/>
              </a:lnSpc>
              <a:defRPr sz="1400">
                <a:solidFill>
                  <a:srgbClr val="1A1A1A"/>
                </a:solidFill>
              </a:defRPr>
            </a:pPr>
            <a:r>
              <a:rPr lang="en-IN" b="1" dirty="0"/>
              <a:t>Why This Is Hard:</a:t>
            </a:r>
            <a:r>
              <a:rPr lang="en-IN" dirty="0"/>
              <a:t xml:space="preserve"> Traditional robotics pipelines handle these pieces independently with brittle, hand-written logic. Existing VLA systems (RT-2, OpenVLA) require expensive hardware, massive datasets, and proprietary infrastructure - making them inaccessible for open research. The problem asks for a system that generalises across command phrasings, multi-object scenes, and relational instructions like “move the green cube to the right of the red cylinder.”</a:t>
            </a:r>
          </a:p>
          <a:p>
            <a:pPr>
              <a:lnSpc>
                <a:spcPts val="1400"/>
              </a:lnSpc>
              <a:defRPr sz="1400">
                <a:solidFill>
                  <a:srgbClr val="1A1A1A"/>
                </a:solidFill>
              </a:defRPr>
            </a:pPr>
            <a:r>
              <a:rPr lang="en-IN" b="1" dirty="0"/>
              <a:t>Why We Selected It:</a:t>
            </a:r>
            <a:r>
              <a:rPr lang="en-IN" dirty="0"/>
              <a:t xml:space="preserve"> This problem sits at the intersection of embodied AI, natural language processing, and robot control - the most technically rich combination in the hackathon. We have a credible path to a working simulation-first system using fully open-source tools, an agentic architecture grounded in published research (SayCan, Code as Policies, ReAct), and a clear extension path to affordable real hardware.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4" name="Rectangle 3"/>
          <p:cNvSpPr/>
          <p:nvPr/>
        </p:nvSpPr>
        <p:spPr>
          <a:xfrm>
            <a:off x="0" y="0"/>
            <a:ext cx="12188952" cy="822960"/>
          </a:xfrm>
          <a:prstGeom prst="rect">
            <a:avLst/>
          </a:prstGeom>
          <a:solidFill>
            <a:srgbClr val="003B8E"/>
          </a:solidFill>
          <a:ln>
            <a:solidFill>
              <a:srgbClr val="0B57D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800" b="1" dirty="0">
                <a:solidFill>
                  <a:srgbClr val="FFFFFF"/>
                </a:solidFill>
              </a:rPr>
              <a:t>Proposed Solution</a:t>
            </a:r>
          </a:p>
        </p:txBody>
      </p:sp>
      <p:sp>
        <p:nvSpPr>
          <p:cNvPr id="3" name="TextBox 2">
            <a:extLst>
              <a:ext uri="{FF2B5EF4-FFF2-40B4-BE49-F238E27FC236}">
                <a16:creationId xmlns:a16="http://schemas.microsoft.com/office/drawing/2014/main" id="{E4AE5D89-9A02-4064-9F7B-CA79A301DB75}"/>
              </a:ext>
            </a:extLst>
          </p:cNvPr>
          <p:cNvSpPr txBox="1"/>
          <p:nvPr/>
        </p:nvSpPr>
        <p:spPr>
          <a:xfrm>
            <a:off x="133002" y="953192"/>
            <a:ext cx="11865033" cy="369332"/>
          </a:xfrm>
          <a:prstGeom prst="rect">
            <a:avLst/>
          </a:prstGeom>
          <a:noFill/>
        </p:spPr>
        <p:txBody>
          <a:bodyPr wrap="square">
            <a:spAutoFit/>
          </a:bodyPr>
          <a:lstStyle/>
          <a:p>
            <a:pPr>
              <a:defRPr sz="1800" b="1">
                <a:solidFill>
                  <a:srgbClr val="0B57D0"/>
                </a:solidFill>
              </a:defRPr>
            </a:pPr>
            <a:r>
              <a:rPr lang="en-IN" dirty="0"/>
              <a:t>Simulation-First VLA Manipulation with Genuine Agentic Orchestration</a:t>
            </a:r>
          </a:p>
          <a:p>
            <a:pPr>
              <a:lnSpc>
                <a:spcPts val="1300"/>
              </a:lnSpc>
              <a:defRPr sz="1400" b="1">
                <a:solidFill>
                  <a:srgbClr val="003B8E"/>
                </a:solidFill>
              </a:defRPr>
            </a:pPr>
            <a:r>
              <a:rPr lang="en-IN" dirty="0"/>
              <a:t>Core Approach</a:t>
            </a:r>
          </a:p>
          <a:p>
            <a:pPr>
              <a:lnSpc>
                <a:spcPts val="1300"/>
              </a:lnSpc>
              <a:defRPr sz="1300">
                <a:solidFill>
                  <a:srgbClr val="1A1A1A"/>
                </a:solidFill>
              </a:defRPr>
            </a:pPr>
            <a:r>
              <a:rPr lang="en-IN" dirty="0"/>
              <a:t>We build a 3-layer system: an Agent Layer (open-weight VLM Planner), a Robotics Stack Layer (6 structured tools), and a Simulation Layer (PyBullet). The Planner Agent does not emit joint angles directly. Instead, it orchestrates manipulation by calling discrete tools: parse_command, build_scene_graph, resolve_target, compute_goal_pose, execute_skill, and verify_goal.</a:t>
            </a:r>
          </a:p>
          <a:p>
            <a:pPr>
              <a:lnSpc>
                <a:spcPts val="1300"/>
              </a:lnSpc>
              <a:defRPr sz="1400" b="1">
                <a:solidFill>
                  <a:srgbClr val="003B8E"/>
                </a:solidFill>
              </a:defRPr>
            </a:pPr>
            <a:r>
              <a:rPr lang="en-IN" dirty="0"/>
              <a:t>Five Command Families Supported</a:t>
            </a:r>
          </a:p>
          <a:p>
            <a:pPr>
              <a:lnSpc>
                <a:spcPts val="1300"/>
              </a:lnSpc>
              <a:defRPr sz="1300">
                <a:solidFill>
                  <a:srgbClr val="1A1A1A"/>
                </a:solidFill>
              </a:defRPr>
            </a:pPr>
            <a:r>
              <a:rPr lang="en-IN" dirty="0"/>
              <a:t>1. Attribute-conditioned pick and place: “Pick the red block and place it in the left tray”</a:t>
            </a:r>
          </a:p>
          <a:p>
            <a:pPr>
              <a:lnSpc>
                <a:spcPts val="1300"/>
              </a:lnSpc>
              <a:defRPr sz="1300">
                <a:solidFill>
                  <a:srgbClr val="1A1A1A"/>
                </a:solidFill>
              </a:defRPr>
            </a:pPr>
            <a:r>
              <a:rPr lang="en-IN" dirty="0"/>
              <a:t>2. Block stacking: “Stack the blue block on the yellow block”</a:t>
            </a:r>
          </a:p>
          <a:p>
            <a:pPr>
              <a:lnSpc>
                <a:spcPts val="1300"/>
              </a:lnSpc>
              <a:defRPr sz="1300">
                <a:solidFill>
                  <a:srgbClr val="1A1A1A"/>
                </a:solidFill>
              </a:defRPr>
            </a:pPr>
            <a:r>
              <a:rPr lang="en-IN" dirty="0"/>
              <a:t>3. Relational rearrangement: “Move the green cube to the right of the red cylinder”</a:t>
            </a:r>
          </a:p>
          <a:p>
            <a:pPr>
              <a:lnSpc>
                <a:spcPts val="1300"/>
              </a:lnSpc>
              <a:defRPr sz="1300">
                <a:solidFill>
                  <a:srgbClr val="1A1A1A"/>
                </a:solidFill>
              </a:defRPr>
            </a:pPr>
            <a:r>
              <a:rPr lang="en-IN" dirty="0"/>
              <a:t>4. Multi-object colour sorting with distractors in the scene</a:t>
            </a:r>
          </a:p>
          <a:p>
            <a:pPr>
              <a:lnSpc>
                <a:spcPts val="1300"/>
              </a:lnSpc>
              <a:defRPr sz="1300">
                <a:solidFill>
                  <a:srgbClr val="1A1A1A"/>
                </a:solidFill>
              </a:defRPr>
            </a:pPr>
            <a:r>
              <a:rPr lang="en-IN" dirty="0"/>
              <a:t>5. Distractor disambiguation: “Pick the small red block, not the large red block”</a:t>
            </a:r>
          </a:p>
          <a:p>
            <a:pPr>
              <a:lnSpc>
                <a:spcPts val="1300"/>
              </a:lnSpc>
              <a:defRPr sz="1400" b="1">
                <a:solidFill>
                  <a:srgbClr val="003B8E"/>
                </a:solidFill>
              </a:defRPr>
            </a:pPr>
            <a:r>
              <a:rPr lang="en-IN" dirty="0"/>
              <a:t>Agentic Loop with Replanning</a:t>
            </a:r>
          </a:p>
          <a:p>
            <a:pPr>
              <a:lnSpc>
                <a:spcPts val="1300"/>
              </a:lnSpc>
              <a:defRPr sz="1300">
                <a:solidFill>
                  <a:srgbClr val="1A1A1A"/>
                </a:solidFill>
              </a:defRPr>
            </a:pPr>
            <a:r>
              <a:rPr lang="en-IN" dirty="0"/>
              <a:t>The Planner Agent maintains episode memory across retries. A Verifier Agent returns structured status - done, retry, or replan - and the Planner responds accordingly. Every tool call is recorded to a structured decision log. The system handles grasp failures, placement misses, and scene changes without human intervention. Quantitative KPIs (TSR: 80-85%, GCA: 90%, CIA: 85%) benchmark real performance.</a:t>
            </a:r>
          </a:p>
          <a:p>
            <a:pPr>
              <a:lnSpc>
                <a:spcPts val="1300"/>
              </a:lnSpc>
              <a:defRPr sz="1400" b="1">
                <a:solidFill>
                  <a:srgbClr val="003B8E"/>
                </a:solidFill>
              </a:defRPr>
            </a:pPr>
            <a:r>
              <a:rPr lang="en-IN" dirty="0"/>
              <a:t>Simulation-First, Hardware-Transferable</a:t>
            </a:r>
          </a:p>
          <a:p>
            <a:pPr>
              <a:lnSpc>
                <a:spcPts val="1300"/>
              </a:lnSpc>
              <a:defRPr sz="1300">
                <a:solidFill>
                  <a:srgbClr val="1A1A1A"/>
                </a:solidFill>
              </a:defRPr>
            </a:pPr>
            <a:r>
              <a:rPr lang="en-IN" dirty="0"/>
              <a:t>The primary delivery is a fully benchmarked PyBullet simulation. Module interfaces are designed to connect directly to a real low-cost 4-DOF arm (STS3215 serial-bus servos, Raspberry Pi 5, Teensy 4.1 controller) as a continuation path after the hackathon. All models are open-weight; no proprietary APIs are used at runtime.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4" name="Rectangle 3"/>
          <p:cNvSpPr/>
          <p:nvPr/>
        </p:nvSpPr>
        <p:spPr>
          <a:xfrm>
            <a:off x="0" y="0"/>
            <a:ext cx="12188952" cy="822960"/>
          </a:xfrm>
          <a:prstGeom prst="rect">
            <a:avLst/>
          </a:prstGeom>
          <a:solidFill>
            <a:srgbClr val="003B8E"/>
          </a:solidFill>
          <a:ln>
            <a:solidFill>
              <a:srgbClr val="0B57D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800" b="1" dirty="0">
                <a:solidFill>
                  <a:srgbClr val="FFFFFF"/>
                </a:solidFill>
              </a:rPr>
              <a:t>Proposed Solution</a:t>
            </a:r>
            <a:r>
              <a:rPr lang="en-IN" sz="2800" b="1" dirty="0">
                <a:solidFill>
                  <a:srgbClr val="FFFFFF"/>
                </a:solidFill>
              </a:rPr>
              <a:t xml:space="preserve"> – Technical Details (Add more slides if required)</a:t>
            </a:r>
            <a:endParaRPr sz="2800" b="1" dirty="0">
              <a:solidFill>
                <a:srgbClr val="FFFFFF"/>
              </a:solidFill>
            </a:endParaRPr>
          </a:p>
        </p:txBody>
      </p:sp>
      <p:sp>
        <p:nvSpPr>
          <p:cNvPr id="3" name="TextBox 2">
            <a:extLst>
              <a:ext uri="{FF2B5EF4-FFF2-40B4-BE49-F238E27FC236}">
                <a16:creationId xmlns:a16="http://schemas.microsoft.com/office/drawing/2014/main" id="{80856E47-9FAD-4B51-A22B-3F8EE8C3C39C}"/>
              </a:ext>
            </a:extLst>
          </p:cNvPr>
          <p:cNvSpPr txBox="1"/>
          <p:nvPr/>
        </p:nvSpPr>
        <p:spPr>
          <a:xfrm>
            <a:off x="133002" y="953192"/>
            <a:ext cx="11865033" cy="646331"/>
          </a:xfrm>
          <a:prstGeom prst="rect">
            <a:avLst/>
          </a:prstGeom>
          <a:noFill/>
        </p:spPr>
        <p:txBody>
          <a:bodyPr wrap="square">
            <a:spAutoFit/>
          </a:bodyPr>
          <a:lstStyle/>
          <a:p>
            <a:pPr>
              <a:defRPr sz="1800" b="1">
                <a:solidFill>
                  <a:srgbClr val="0B57D0"/>
                </a:solidFill>
              </a:defRPr>
            </a:pPr>
            <a:r>
              <a:rPr lang="en-IN" dirty="0"/>
              <a:t>3-Layer Architecture | Data Flow | Module Design | Constraints</a:t>
            </a:r>
          </a:p>
          <a:p>
            <a:pPr>
              <a:lnSpc>
                <a:spcPts val="1300"/>
              </a:lnSpc>
              <a:defRPr sz="1400" b="1">
                <a:solidFill>
                  <a:srgbClr val="003B8E"/>
                </a:solidFill>
              </a:defRPr>
            </a:pPr>
            <a:r>
              <a:rPr lang="en-IN" dirty="0"/>
              <a:t>Layer 1 - Agent Orchestration</a:t>
            </a:r>
          </a:p>
          <a:p>
            <a:pPr>
              <a:lnSpc>
                <a:spcPts val="1300"/>
              </a:lnSpc>
              <a:defRPr sz="1300">
                <a:solidFill>
                  <a:srgbClr val="1A1A1A"/>
                </a:solidFill>
              </a:defRPr>
            </a:pPr>
            <a:r>
              <a:rPr lang="en-IN" dirty="0"/>
              <a:t>Planner Agent (Qwen2.5-VL-7B or Llama 3.2-Vision-11B, open-weight, locally hosted). Receives the natural-language command and current scene state. Calls tools sequentially. Maintains episode memory: parsed intent, confirmed target ID, failed grasps, retry count. All tool calls logged to structured JSON decision log. Verifier Agent wraps verify_goal and returns: done | retry | replan.</a:t>
            </a:r>
          </a:p>
          <a:p>
            <a:pPr>
              <a:lnSpc>
                <a:spcPts val="1300"/>
              </a:lnSpc>
              <a:defRPr sz="1400" b="1">
                <a:solidFill>
                  <a:srgbClr val="003B8E"/>
                </a:solidFill>
              </a:defRPr>
            </a:pPr>
            <a:r>
              <a:rPr lang="en-IN" dirty="0"/>
              <a:t>Layer 2 - Robotics Stack (6 Structured Tools)</a:t>
            </a:r>
          </a:p>
          <a:p>
            <a:pPr>
              <a:lnSpc>
                <a:spcPts val="1300"/>
              </a:lnSpc>
              <a:defRPr sz="1300">
                <a:solidFill>
                  <a:srgbClr val="1A1A1A"/>
                </a:solidFill>
              </a:defRPr>
            </a:pPr>
            <a:r>
              <a:rPr lang="en-IN" b="1" dirty="0"/>
              <a:t xml:space="preserve">parse_command(cmd) </a:t>
            </a:r>
            <a:r>
              <a:rPr lang="en-IN" dirty="0"/>
              <a:t xml:space="preserve">- Converts NL to structured goal schema {action, target, reference, relation, destination, exclusion}. </a:t>
            </a:r>
            <a:r>
              <a:rPr lang="en-IN" b="1" dirty="0"/>
              <a:t xml:space="preserve">build_scene_graph(rgb) </a:t>
            </a:r>
            <a:r>
              <a:rPr lang="en-IN" dirty="0"/>
              <a:t xml:space="preserve">- YOLOv8 detection + color/size extraction + pairwise spatial relations. </a:t>
            </a:r>
            <a:r>
              <a:rPr lang="en-IN" b="1" dirty="0"/>
              <a:t xml:space="preserve">resolve_target(desc, scene, memory) </a:t>
            </a:r>
            <a:r>
              <a:rPr lang="en-IN" dirty="0"/>
              <a:t xml:space="preserve">- Memory-aware object disambiguation. </a:t>
            </a:r>
            <a:r>
              <a:rPr lang="en-IN" b="1" dirty="0"/>
              <a:t xml:space="preserve">compute_goal_pose(goal, scene) </a:t>
            </a:r>
            <a:r>
              <a:rPr lang="en-IN" dirty="0"/>
              <a:t xml:space="preserve">- Converts relational/tray goal to Cartesian target. </a:t>
            </a:r>
            <a:r>
              <a:rPr lang="en-IN" b="1" dirty="0"/>
              <a:t xml:space="preserve">execute_skill(skill, target_id, goal_pose) </a:t>
            </a:r>
            <a:r>
              <a:rPr lang="en-IN" dirty="0"/>
              <a:t xml:space="preserve">- Runs REACH, GRASP, LIFT, PLACE via IK + safety clamp. </a:t>
            </a:r>
            <a:r>
              <a:rPr lang="en-IN" b="1" dirty="0"/>
              <a:t xml:space="preserve">verify_goal(goal, scene) </a:t>
            </a:r>
            <a:r>
              <a:rPr lang="en-IN" dirty="0"/>
              <a:t>- Evaluates final scene state against parsed goal.</a:t>
            </a:r>
          </a:p>
          <a:p>
            <a:pPr>
              <a:lnSpc>
                <a:spcPts val="1300"/>
              </a:lnSpc>
              <a:defRPr sz="1400" b="1">
                <a:solidFill>
                  <a:srgbClr val="003B8E"/>
                </a:solidFill>
              </a:defRPr>
            </a:pPr>
            <a:r>
              <a:rPr lang="en-IN" dirty="0"/>
              <a:t>Layer 3 - Simulation (PyBullet)</a:t>
            </a:r>
          </a:p>
          <a:p>
            <a:pPr>
              <a:lnSpc>
                <a:spcPts val="1300"/>
              </a:lnSpc>
              <a:defRPr sz="1300">
                <a:solidFill>
                  <a:srgbClr val="1A1A1A"/>
                </a:solidFill>
              </a:defRPr>
            </a:pPr>
            <a:r>
              <a:rPr lang="en-IN" dirty="0"/>
              <a:t>4-DOF arm modeled in URDF (base yaw, shoulder pitch, elbow pitch, gripper). Tabletop scene: 3-6 objects (cubes, cylinders, trays, reference objects). Randomised positions, orientations, colours, and lighting per episode. Episode lifecycle: reset scene, render RGB, issue command, ground goal, run skill loop, verify final state, log metrics. Scene state dict includes object table + goal_zones registry for verifier. PyBullet provides deterministic resets enabling reproducible benchmarking across 200+ episodes.</a:t>
            </a:r>
          </a:p>
          <a:p>
            <a:pPr>
              <a:lnSpc>
                <a:spcPts val="1300"/>
              </a:lnSpc>
              <a:defRPr sz="1400" b="1">
                <a:solidFill>
                  <a:srgbClr val="003B8E"/>
                </a:solidFill>
              </a:defRPr>
            </a:pPr>
            <a:r>
              <a:rPr lang="en-IN" dirty="0"/>
              <a:t>Goal-Condition Verifier (Key Differentiator)</a:t>
            </a:r>
          </a:p>
          <a:p>
            <a:pPr>
              <a:lnSpc>
                <a:spcPts val="1300"/>
              </a:lnSpc>
              <a:defRPr sz="1300">
                <a:solidFill>
                  <a:srgbClr val="1A1A1A"/>
                </a:solidFill>
              </a:defRPr>
            </a:pPr>
            <a:r>
              <a:rPr lang="en-IN" dirty="0"/>
              <a:t>Explicit geometric verifier checks: inside_destination_zone (tray placement within 5 cm radius), is_stably_stacked (XY alignment + minimum height from object extents), directional relations (right_of: dx &gt; 0.05 m, left_of: dx &lt; -0.05 m, on_top_of: stable stack). Exclusion-based commands verified against episode log of manipulated instance ID. This verifier is what makes Goal Condition Accuracy (GCA target: 90%) an honest, measurable metric.</a:t>
            </a:r>
          </a:p>
          <a:p>
            <a:pPr>
              <a:lnSpc>
                <a:spcPts val="1300"/>
              </a:lnSpc>
              <a:defRPr sz="1400" b="1">
                <a:solidFill>
                  <a:srgbClr val="003B8E"/>
                </a:solidFill>
              </a:defRPr>
            </a:pPr>
            <a:r>
              <a:rPr lang="en-IN" dirty="0"/>
              <a:t>Constraints and Mitigations</a:t>
            </a:r>
          </a:p>
          <a:p>
            <a:pPr>
              <a:lnSpc>
                <a:spcPts val="1300"/>
              </a:lnSpc>
              <a:defRPr sz="1300">
                <a:solidFill>
                  <a:srgbClr val="1A1A1A"/>
                </a:solidFill>
              </a:defRPr>
            </a:pPr>
            <a:r>
              <a:rPr lang="en-IN" dirty="0"/>
              <a:t>Bounded scope: tabletop only, one arm, fixed object categories - prevents overclaiming. VLM inference latency on CPU: mitigated by vLLM or llama.cpp for local serving. Sim-to-real gap: modular interfaces preserved so hardware swap is a configuration change, not a rewrite. Command generalisation: paraphrase evaluation split measures bounded language generalisation. Compute needed: YOLOv8 + rule-based baseline runs CPU-first; learned policy training requires 1 GPU (Google Colab A100 or equivalent), estimated 2-4 hours for 200-1000 episodes.</a:t>
            </a:r>
          </a:p>
        </p:txBody>
      </p:sp>
    </p:spTree>
    <p:extLst>
      <p:ext uri="{BB962C8B-B14F-4D97-AF65-F5344CB8AC3E}">
        <p14:creationId xmlns:p14="http://schemas.microsoft.com/office/powerpoint/2010/main" val="628901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4" name="Rectangle 3"/>
          <p:cNvSpPr/>
          <p:nvPr/>
        </p:nvSpPr>
        <p:spPr>
          <a:xfrm>
            <a:off x="0" y="0"/>
            <a:ext cx="12188952" cy="822960"/>
          </a:xfrm>
          <a:prstGeom prst="rect">
            <a:avLst/>
          </a:prstGeom>
          <a:solidFill>
            <a:srgbClr val="003B8E"/>
          </a:solidFill>
          <a:ln>
            <a:solidFill>
              <a:srgbClr val="0B57D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800" b="1" dirty="0">
                <a:solidFill>
                  <a:srgbClr val="FFFFFF"/>
                </a:solidFill>
              </a:rPr>
              <a:t>Novelty &amp; Innovation</a:t>
            </a:r>
            <a:r>
              <a:rPr lang="en-IN" sz="2800" b="1" dirty="0">
                <a:solidFill>
                  <a:srgbClr val="FFFFFF"/>
                </a:solidFill>
              </a:rPr>
              <a:t xml:space="preserve"> of your solution (Add more slides if required)</a:t>
            </a:r>
            <a:endParaRPr sz="2800" b="1" dirty="0">
              <a:solidFill>
                <a:srgbClr val="FFFFFF"/>
              </a:solidFill>
            </a:endParaRPr>
          </a:p>
        </p:txBody>
      </p:sp>
      <p:sp>
        <p:nvSpPr>
          <p:cNvPr id="5" name="TextBox 4"/>
          <p:cNvSpPr txBox="1"/>
          <p:nvPr/>
        </p:nvSpPr>
        <p:spPr>
          <a:xfrm>
            <a:off x="133002" y="953192"/>
            <a:ext cx="11865033" cy="646331"/>
          </a:xfrm>
          <a:prstGeom prst="rect">
            <a:avLst/>
          </a:prstGeom>
          <a:noFill/>
        </p:spPr>
        <p:txBody>
          <a:bodyPr wrap="square">
            <a:spAutoFit/>
          </a:bodyPr>
          <a:lstStyle/>
          <a:p>
            <a:pPr>
              <a:lnSpc>
                <a:spcPts val="1300"/>
              </a:lnSpc>
              <a:defRPr sz="1400" b="1">
                <a:solidFill>
                  <a:srgbClr val="003B8E"/>
                </a:solidFill>
              </a:defRPr>
            </a:pPr>
            <a:r>
              <a:rPr lang="en-IN" dirty="0"/>
              <a:t>State of the Art vs. Our System</a:t>
            </a:r>
          </a:p>
          <a:p>
            <a:pPr>
              <a:lnSpc>
                <a:spcPts val="1300"/>
              </a:lnSpc>
              <a:defRPr sz="1300">
                <a:solidFill>
                  <a:srgbClr val="1A1A1A"/>
                </a:solidFill>
              </a:defRPr>
            </a:pPr>
            <a:r>
              <a:rPr lang="en-IN" b="1" dirty="0"/>
              <a:t xml:space="preserve">RT-1 / RT-2 (Google): </a:t>
            </a:r>
            <a:r>
              <a:rPr lang="en-IN" dirty="0"/>
              <a:t xml:space="preserve">Require massive datasets, expensive research arms, proprietary infrastructure. Not reproducible by open teams. </a:t>
            </a:r>
            <a:r>
              <a:rPr lang="en-IN" b="1" dirty="0"/>
              <a:t xml:space="preserve">OpenVLA / Octo: </a:t>
            </a:r>
            <a:r>
              <a:rPr lang="en-IN" dirty="0"/>
              <a:t xml:space="preserve">Open-weight but assume high-DOF arms, large compute, and treat action generation as a single end-to-end pass with no structured verification. </a:t>
            </a:r>
            <a:r>
              <a:rPr lang="en-IN" b="1" dirty="0"/>
              <a:t xml:space="preserve">CLIPort: </a:t>
            </a:r>
            <a:r>
              <a:rPr lang="en-IN" dirty="0"/>
              <a:t xml:space="preserve">Demonstrates strong language-conditioned manipulation but uses a fixed two-stream architecture without agentic replanning. </a:t>
            </a:r>
            <a:r>
              <a:rPr lang="en-IN" b="1" dirty="0"/>
              <a:t xml:space="preserve">SayCan / Code as Policies / ReAct: </a:t>
            </a:r>
            <a:r>
              <a:rPr lang="en-IN" dirty="0"/>
              <a:t>Pioneered the agentic planning paradigm but rely on proprietary LLMs (GPT-4, PaLM) as the orchestrator.</a:t>
            </a:r>
          </a:p>
          <a:p>
            <a:pPr>
              <a:lnSpc>
                <a:spcPts val="1300"/>
              </a:lnSpc>
              <a:defRPr sz="1400" b="1">
                <a:solidFill>
                  <a:srgbClr val="003B8E"/>
                </a:solidFill>
              </a:defRPr>
            </a:pPr>
            <a:r>
              <a:rPr lang="en-IN" dirty="0"/>
              <a:t>What Makes This System Novel</a:t>
            </a:r>
          </a:p>
          <a:p>
            <a:pPr>
              <a:lnSpc>
                <a:spcPts val="1300"/>
              </a:lnSpc>
              <a:defRPr sz="1300">
                <a:solidFill>
                  <a:srgbClr val="1A1A1A"/>
                </a:solidFill>
              </a:defRPr>
            </a:pPr>
            <a:r>
              <a:rPr lang="en-IN" b="1" dirty="0"/>
              <a:t xml:space="preserve">1. Genuine Agentic Architecture with Open-Weight VLM: </a:t>
            </a:r>
            <a:r>
              <a:rPr lang="en-IN" dirty="0"/>
              <a:t>The Planner Agent uses Qwen2.5-VL or Llama 3.2-Vision - fully local, no API keys. Most hackathon submissions either use scripted demos (no AI) or call an LLM to emit joint angles directly (no structure). Ours is the architecture robotics research is converging on: tool-calling + episode memory + replanning.</a:t>
            </a:r>
          </a:p>
          <a:p>
            <a:pPr>
              <a:lnSpc>
                <a:spcPts val="1300"/>
              </a:lnSpc>
              <a:defRPr sz="1300">
                <a:solidFill>
                  <a:srgbClr val="1A1A1A"/>
                </a:solidFill>
              </a:defRPr>
            </a:pPr>
            <a:r>
              <a:rPr lang="en-IN" b="1" dirty="0"/>
              <a:t xml:space="preserve">2. Verifier Agent with Structured Recovery: </a:t>
            </a:r>
            <a:r>
              <a:rPr lang="en-IN" dirty="0"/>
              <a:t>The Verifier returns done / retry / replan - not a binary pass/fail. The Planner reads this and acts accordingly. On a replan trigger, scene grounding is refreshed and the confirmed target ID is cleared for re-selection. This closes the loop that most systems leave open.</a:t>
            </a:r>
          </a:p>
          <a:p>
            <a:pPr>
              <a:lnSpc>
                <a:spcPts val="1300"/>
              </a:lnSpc>
              <a:defRPr sz="1300">
                <a:solidFill>
                  <a:srgbClr val="1A1A1A"/>
                </a:solidFill>
              </a:defRPr>
            </a:pPr>
            <a:r>
              <a:rPr lang="en-IN" b="1" dirty="0"/>
              <a:t xml:space="preserve">3. Explicit Relational Language Grounding: </a:t>
            </a:r>
            <a:r>
              <a:rPr lang="en-IN" dirty="0"/>
              <a:t>Commands involving left_of, right_of, on_top_of, next_to, in_front_of, behind are grounded into a structured goal schema and verified geometrically. The exclusion field handles disambiguation commands like “pick the small red block, not the large red block” - a capability most systems skip entirely.</a:t>
            </a:r>
          </a:p>
          <a:p>
            <a:pPr>
              <a:lnSpc>
                <a:spcPts val="1300"/>
              </a:lnSpc>
              <a:defRPr sz="1300">
                <a:solidFill>
                  <a:srgbClr val="1A1A1A"/>
                </a:solidFill>
              </a:defRPr>
            </a:pPr>
            <a:r>
              <a:rPr lang="en-IN" b="1" dirty="0"/>
              <a:t xml:space="preserve">4. Named KPIs with Honest Measurement: </a:t>
            </a:r>
            <a:r>
              <a:rPr lang="en-IN" dirty="0"/>
              <a:t>TSR (80-85%), GCA (90%), CIA (85%), TCR (80%), RSR (60%+) are measured separately so failure sources can be attributed to perception, grounding, planning, or execution - not blended into a single opaque score. Error Analysis Coverage is 100%: every failure gets a labelled cause category.</a:t>
            </a:r>
          </a:p>
          <a:p>
            <a:pPr>
              <a:lnSpc>
                <a:spcPts val="1300"/>
              </a:lnSpc>
              <a:defRPr sz="1300">
                <a:solidFill>
                  <a:srgbClr val="1A1A1A"/>
                </a:solidFill>
              </a:defRPr>
            </a:pPr>
            <a:r>
              <a:rPr lang="en-IN" b="1" dirty="0"/>
              <a:t xml:space="preserve">5. Sim-to-Real Credibility: </a:t>
            </a:r>
            <a:r>
              <a:rPr lang="en-IN" dirty="0"/>
              <a:t>The physical arm extension (STS3215 + RPi5 + Teensy 4.1) is not a hackathon dependency - it is a continuation path that makes the submission architecturally serious beyond the event. Module boundaries between planning and actuation are preserved for a clean hardware swap.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4" name="Rectangle 3"/>
          <p:cNvSpPr/>
          <p:nvPr/>
        </p:nvSpPr>
        <p:spPr>
          <a:xfrm>
            <a:off x="0" y="0"/>
            <a:ext cx="12188952" cy="822960"/>
          </a:xfrm>
          <a:prstGeom prst="rect">
            <a:avLst/>
          </a:prstGeom>
          <a:solidFill>
            <a:srgbClr val="003B8E"/>
          </a:solidFill>
          <a:ln>
            <a:solidFill>
              <a:srgbClr val="0B57D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IN" sz="2800" b="1" dirty="0">
                <a:solidFill>
                  <a:srgbClr val="FFFFFF"/>
                </a:solidFill>
              </a:rPr>
              <a:t>Open Datasets planned to be used / published</a:t>
            </a:r>
            <a:endParaRPr sz="2800" b="1" dirty="0">
              <a:solidFill>
                <a:srgbClr val="FFFFFF"/>
              </a:solidFill>
            </a:endParaRPr>
          </a:p>
        </p:txBody>
      </p:sp>
      <p:sp>
        <p:nvSpPr>
          <p:cNvPr id="10" name="TextBox Datasets"/>
          <p:cNvSpPr txBox="1"/>
          <p:nvPr/>
        </p:nvSpPr>
        <p:spPr>
          <a:xfrm>
            <a:off x="133002" y="953192"/>
            <a:ext cx="11865033" cy="5400000"/>
          </a:xfrm>
          <a:prstGeom prst="rect">
            <a:avLst/>
          </a:prstGeom>
          <a:noFill/>
        </p:spPr>
        <p:txBody>
          <a:bodyPr wrap="square">
            <a:spAutoFit/>
          </a:bodyPr>
          <a:lstStyle/>
          <a:p>
            <a:pPr>
              <a:lnSpc>
                <a:spcPts val="1300"/>
              </a:lnSpc>
              <a:defRPr sz="1400" b="1">
                <a:solidFill>
                  <a:srgbClr val="003B8E"/>
                </a:solidFill>
              </a:defRPr>
            </a:pPr>
            <a:r>
              <a:rPr lang="en-IN" dirty="0"/>
              <a:t>Primary Dataset: Simulation-Generated Trajectories (Custom)</a:t>
            </a:r>
          </a:p>
          <a:p>
            <a:pPr>
              <a:lnSpc>
                <a:spcPts val="1300"/>
              </a:lnSpc>
              <a:defRPr sz="1300">
                <a:solidFill>
                  <a:srgbClr val="1A1A1A"/>
                </a:solidFill>
              </a:defRPr>
            </a:pPr>
            <a:r>
              <a:rPr lang="en-IN" dirty="0"/>
              <a:t>200-1000 episodes generated from scripted expert policies in PyBullet. Each episode contains: command string, RGB observation sequence, object/state metadata, skill phase labels, action sequence, terminal success/failure label, and goal-condition label. Generated across all 5 command families with seeded randomisation. To be published under Apache-2.0 / Creative Commons. Scale target is small enough for full reproducibility on a single GPU within a few hours.</a:t>
            </a:r>
          </a:p>
          <a:p>
            <a:pPr>
              <a:lnSpc>
                <a:spcPts val="1300"/>
              </a:lnSpc>
              <a:defRPr sz="1400" b="1">
                <a:solidFill>
                  <a:srgbClr val="003B8E"/>
                </a:solidFill>
              </a:defRPr>
            </a:pPr>
            <a:r>
              <a:rPr lang="en-IN" dirty="0"/>
              <a:t>Open Benchmark Datasets Used as Priors / Reference</a:t>
            </a:r>
          </a:p>
          <a:p>
            <a:pPr>
              <a:lnSpc>
                <a:spcPts val="1300"/>
              </a:lnSpc>
              <a:defRPr sz="1300">
                <a:solidFill>
                  <a:srgbClr val="1A1A1A"/>
                </a:solidFill>
              </a:defRPr>
            </a:pPr>
            <a:r>
              <a:rPr lang="en-IN" b="1" dirty="0"/>
              <a:t xml:space="preserve">COCO (Common Objects in Context): </a:t>
            </a:r>
            <a:r>
              <a:rPr lang="en-IN" dirty="0"/>
              <a:t>Apache-2.0 / CC. Used to pre-train or fine-tune the YOLOv8 object detector backbone before adapting to tabletop manipulation objects. Provides colour, shape, and size generalisation priors.</a:t>
            </a:r>
          </a:p>
          <a:p>
            <a:pPr>
              <a:lnSpc>
                <a:spcPts val="1300"/>
              </a:lnSpc>
              <a:defRPr sz="1300">
                <a:solidFill>
                  <a:srgbClr val="1A1A1A"/>
                </a:solidFill>
              </a:defRPr>
            </a:pPr>
            <a:r>
              <a:rPr lang="en-IN" b="1" dirty="0"/>
              <a:t xml:space="preserve">Open X-Embodiment Dataset: </a:t>
            </a:r>
            <a:r>
              <a:rPr lang="en-IN" dirty="0"/>
              <a:t>Apache-2.0. Cross-robot manipulation trajectories from the broader robotics community. Used as a prior for action representation learning if a learned VLA backbone (SmolVLA / Octo-small) is adopted. Informs pick-and-place trajectory diversity.</a:t>
            </a:r>
          </a:p>
          <a:p>
            <a:pPr>
              <a:lnSpc>
                <a:spcPts val="1300"/>
              </a:lnSpc>
              <a:defRPr sz="1300">
                <a:solidFill>
                  <a:srgbClr val="1A1A1A"/>
                </a:solidFill>
              </a:defRPr>
            </a:pPr>
            <a:r>
              <a:rPr lang="en-IN" b="1" dirty="0"/>
              <a:t xml:space="preserve">LIBERO Manipulation Benchmark: </a:t>
            </a:r>
            <a:r>
              <a:rPr lang="en-IN" dirty="0"/>
              <a:t>MIT License. Tabletop object rearrangement tasks with language annotations. Closely aligned with our task family (pick, place, stack). Used as a reference for task design and evaluation protocol, and optionally as an auxiliary training source for skill prediction.</a:t>
            </a:r>
          </a:p>
          <a:p>
            <a:pPr>
              <a:lnSpc>
                <a:spcPts val="1300"/>
              </a:lnSpc>
              <a:defRPr sz="1300">
                <a:solidFill>
                  <a:srgbClr val="1A1A1A"/>
                </a:solidFill>
              </a:defRPr>
            </a:pPr>
            <a:r>
              <a:rPr lang="en-IN" b="1" dirty="0"/>
              <a:t xml:space="preserve">ALFRED (Action Learning From Realistic Environments and Directives): </a:t>
            </a:r>
            <a:r>
              <a:rPr lang="en-IN" dirty="0"/>
              <a:t>MIT License. Natural language task completion dataset. Referenced for command paraphrase diversity and instruction-following evaluation design. Informs the paraphrased command evaluation split.</a:t>
            </a:r>
          </a:p>
          <a:p>
            <a:pPr>
              <a:lnSpc>
                <a:spcPts val="1300"/>
              </a:lnSpc>
              <a:defRPr sz="1400" b="1">
                <a:solidFill>
                  <a:srgbClr val="003B8E"/>
                </a:solidFill>
              </a:defRPr>
            </a:pPr>
            <a:r>
              <a:rPr lang="en-IN" dirty="0"/>
              <a:t>Dataset Publication Plan</a:t>
            </a:r>
          </a:p>
          <a:p>
            <a:pPr>
              <a:lnSpc>
                <a:spcPts val="1300"/>
              </a:lnSpc>
              <a:defRPr sz="1300">
                <a:solidFill>
                  <a:srgbClr val="1A1A1A"/>
                </a:solidFill>
              </a:defRPr>
            </a:pPr>
            <a:r>
              <a:rPr lang="en-IN" dirty="0"/>
              <a:t>The simulation-generated episode dataset (trajectories, command-goal annotations, and benchmark KPI logs) will be published alongside the code repository under a Creative Commons license after the hackathon. Episode seed files and benchmark split definitions will also be released to ensure full reproducibility of all reported metrics.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4" name="Rectangle 3"/>
          <p:cNvSpPr/>
          <p:nvPr/>
        </p:nvSpPr>
        <p:spPr>
          <a:xfrm>
            <a:off x="0" y="0"/>
            <a:ext cx="12188952" cy="822960"/>
          </a:xfrm>
          <a:prstGeom prst="rect">
            <a:avLst/>
          </a:prstGeom>
          <a:solidFill>
            <a:srgbClr val="003B8E"/>
          </a:solidFill>
          <a:ln>
            <a:solidFill>
              <a:srgbClr val="0B57D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IN" sz="2800" b="1" dirty="0">
                <a:solidFill>
                  <a:srgbClr val="FFFFFF"/>
                </a:solidFill>
              </a:rPr>
              <a:t>Open Models planned to be used / developed / trained / fine-tuned</a:t>
            </a:r>
            <a:endParaRPr sz="2800" b="1" dirty="0">
              <a:solidFill>
                <a:srgbClr val="FFFFFF"/>
              </a:solidFill>
            </a:endParaRPr>
          </a:p>
        </p:txBody>
      </p:sp>
      <p:sp>
        <p:nvSpPr>
          <p:cNvPr id="10" name="TextBox Models"/>
          <p:cNvSpPr txBox="1"/>
          <p:nvPr/>
        </p:nvSpPr>
        <p:spPr>
          <a:xfrm>
            <a:off x="133002" y="953192"/>
            <a:ext cx="11865033" cy="5400000"/>
          </a:xfrm>
          <a:prstGeom prst="rect">
            <a:avLst/>
          </a:prstGeom>
          <a:noFill/>
        </p:spPr>
        <p:txBody>
          <a:bodyPr wrap="square">
            <a:spAutoFit/>
          </a:bodyPr>
          <a:lstStyle/>
          <a:p>
            <a:pPr>
              <a:lnSpc>
                <a:spcPts val="1300"/>
              </a:lnSpc>
              <a:defRPr sz="1400" b="1">
                <a:solidFill>
                  <a:srgbClr val="003B8E"/>
                </a:solidFill>
              </a:defRPr>
            </a:pPr>
            <a:r>
              <a:rPr lang="en-IN" dirty="0"/>
              <a:t>Planner Agent - Open-Weight Vision-Language Model (Core)</a:t>
            </a:r>
          </a:p>
          <a:p>
            <a:pPr>
              <a:lnSpc>
                <a:spcPts val="1300"/>
              </a:lnSpc>
              <a:defRPr sz="1300">
                <a:solidFill>
                  <a:srgbClr val="1A1A1A"/>
                </a:solidFill>
              </a:defRPr>
            </a:pPr>
            <a:r>
              <a:rPr lang="en-IN" b="1" dirty="0"/>
              <a:t xml:space="preserve">Qwen2.5-VL-7B (Primary Candidate): </a:t>
            </a:r>
            <a:r>
              <a:rPr lang="en-IN" dirty="0"/>
              <a:t>Apache-2.0, Hugging Face. Strong multimodal grounding, proven tool-calling capability, efficient at 7B scale. Runs locally via vLLM or llama.cpp with no external API dependency. Final model locked after benchmarking tool-call fidelity on 20 held-out sequences.</a:t>
            </a:r>
          </a:p>
          <a:p>
            <a:pPr>
              <a:lnSpc>
                <a:spcPts val="1300"/>
              </a:lnSpc>
              <a:defRPr sz="1300">
                <a:solidFill>
                  <a:srgbClr val="1A1A1A"/>
                </a:solidFill>
              </a:defRPr>
            </a:pPr>
            <a:r>
              <a:rPr lang="en-IN" b="1" dirty="0"/>
              <a:t xml:space="preserve">Llama 3.2-Vision-11B (Fallback Candidate): </a:t>
            </a:r>
            <a:r>
              <a:rPr lang="en-IN" dirty="0"/>
              <a:t>Meta Llama 3 Community License (permissive for research). Strong instruction following, well-supported inference stack. Selected if Qwen2.5-VL shows lower tool-call accuracy or higher latency in benchmarking. No fine-tuning required for the agentic planner role - used in instruction mode.</a:t>
            </a:r>
          </a:p>
          <a:p>
            <a:pPr>
              <a:lnSpc>
                <a:spcPts val="1300"/>
              </a:lnSpc>
              <a:defRPr sz="1400" b="1">
                <a:solidFill>
                  <a:srgbClr val="003B8E"/>
                </a:solidFill>
              </a:defRPr>
            </a:pPr>
            <a:r>
              <a:rPr lang="en-IN" dirty="0"/>
              <a:t>Object Detection - YOLOv8 (Fine-Tuned)</a:t>
            </a:r>
          </a:p>
          <a:p>
            <a:pPr>
              <a:lnSpc>
                <a:spcPts val="1300"/>
              </a:lnSpc>
              <a:defRPr sz="1300">
                <a:solidFill>
                  <a:srgbClr val="1A1A1A"/>
                </a:solidFill>
              </a:defRPr>
            </a:pPr>
            <a:r>
              <a:rPr lang="en-IN" b="1" dirty="0"/>
              <a:t xml:space="preserve">YOLOv8-nano / YOLOv8-small (Ultralytics, AGPL-3.0): </a:t>
            </a:r>
            <a:r>
              <a:rPr lang="en-IN" dirty="0"/>
              <a:t>Fine-tuned on simulation-rendered tabletop images to detect cubes, cylinders, trays, and reference objects. Outputs class label, bounding box, and confidence per instance. Colour and size attributes extracted from the crop in a post-processing step. Trained on 200-1000 simulation frames; inference latency under 50 ms per frame on CPU. Model checkpoint published with the repository.</a:t>
            </a:r>
          </a:p>
          <a:p>
            <a:pPr>
              <a:lnSpc>
                <a:spcPts val="1300"/>
              </a:lnSpc>
              <a:defRPr sz="1400" b="1">
                <a:solidFill>
                  <a:srgbClr val="003B8E"/>
                </a:solidFill>
              </a:defRPr>
            </a:pPr>
            <a:r>
              <a:rPr lang="en-IN" dirty="0"/>
              <a:t>Language Encoder - T5-Small (Optional Learned Grounding)</a:t>
            </a:r>
          </a:p>
          <a:p>
            <a:pPr>
              <a:lnSpc>
                <a:spcPts val="1300"/>
              </a:lnSpc>
              <a:defRPr sz="1300">
                <a:solidFill>
                  <a:srgbClr val="1A1A1A"/>
                </a:solidFill>
              </a:defRPr>
            </a:pPr>
            <a:r>
              <a:rPr lang="en-IN" b="1" dirty="0"/>
              <a:t xml:space="preserve">Google T5-Small (Apache-2.0, Hugging Face): </a:t>
            </a:r>
            <a:r>
              <a:rPr lang="en-IN" dirty="0"/>
              <a:t>Optional learned instruction encoder to replace the rule-based parser for paraphrase handling. Fine-tuned on command-to-goal-schema pairs from the simulation dataset. Improves CIA (Command Interpretation Accuracy) on unseen phrasings. The rule-based parser baseline is used if the learned encoder adds latency that risks demo stability.</a:t>
            </a:r>
          </a:p>
          <a:p>
            <a:pPr>
              <a:lnSpc>
                <a:spcPts val="1300"/>
              </a:lnSpc>
              <a:defRPr sz="1400" b="1">
                <a:solidFill>
                  <a:srgbClr val="003B8E"/>
                </a:solidFill>
              </a:defRPr>
            </a:pPr>
            <a:r>
              <a:rPr lang="en-IN" dirty="0"/>
              <a:t>VLA Backbone - SmolVLA / Octo-Small (Optional Stretch Goal)</a:t>
            </a:r>
          </a:p>
          <a:p>
            <a:pPr>
              <a:lnSpc>
                <a:spcPts val="1300"/>
              </a:lnSpc>
              <a:defRPr sz="1300">
                <a:solidFill>
                  <a:srgbClr val="1A1A1A"/>
                </a:solidFill>
              </a:defRPr>
            </a:pPr>
            <a:r>
              <a:rPr lang="en-IN" b="1" dirty="0"/>
              <a:t xml:space="preserve">SmolVLA (Apache-2.0, HuggingFace LeRobot) / Octo-Small (Apache-2.0): </a:t>
            </a:r>
            <a:r>
              <a:rPr lang="en-IN" dirty="0"/>
              <a:t>Compact VLA backbone for optionally replacing the scripted skill policy with a learned action model. Fine-tuned on simulation-generated trajectories. Compared against the scripted baseline in benchmarking. These are stretch-goal components - the rule-based skill pipeline is the reliable primary path; the learned model is integrated only after the baseline benchmark loop is validated.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4" name="Rectangle 3"/>
          <p:cNvSpPr/>
          <p:nvPr/>
        </p:nvSpPr>
        <p:spPr>
          <a:xfrm>
            <a:off x="0" y="0"/>
            <a:ext cx="12188952" cy="822960"/>
          </a:xfrm>
          <a:prstGeom prst="rect">
            <a:avLst/>
          </a:prstGeom>
          <a:solidFill>
            <a:srgbClr val="003B8E"/>
          </a:solidFill>
          <a:ln>
            <a:solidFill>
              <a:srgbClr val="0B57D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800" b="1" dirty="0">
                <a:solidFill>
                  <a:srgbClr val="FFFFFF"/>
                </a:solidFill>
              </a:rPr>
              <a:t>AI/</a:t>
            </a:r>
            <a:r>
              <a:rPr sz="2800" b="1" dirty="0" err="1">
                <a:solidFill>
                  <a:srgbClr val="FFFFFF"/>
                </a:solidFill>
              </a:rPr>
              <a:t>GenAI</a:t>
            </a:r>
            <a:r>
              <a:rPr sz="2800" b="1" dirty="0">
                <a:solidFill>
                  <a:srgbClr val="FFFFFF"/>
                </a:solidFill>
              </a:rPr>
              <a:t xml:space="preserve">/Agentic </a:t>
            </a:r>
            <a:r>
              <a:rPr lang="en-IN" sz="2800" b="1" dirty="0">
                <a:solidFill>
                  <a:srgbClr val="FFFFFF"/>
                </a:solidFill>
              </a:rPr>
              <a:t>tools used/developed (Add more slides if required)</a:t>
            </a:r>
            <a:endParaRPr sz="2800" b="1" dirty="0">
              <a:solidFill>
                <a:srgbClr val="FFFFFF"/>
              </a:solidFill>
            </a:endParaRPr>
          </a:p>
        </p:txBody>
      </p:sp>
      <p:sp>
        <p:nvSpPr>
          <p:cNvPr id="3" name="TextBox 2">
            <a:extLst>
              <a:ext uri="{FF2B5EF4-FFF2-40B4-BE49-F238E27FC236}">
                <a16:creationId xmlns:a16="http://schemas.microsoft.com/office/drawing/2014/main" id="{F554654B-7908-41B0-92B7-940045A63731}"/>
              </a:ext>
            </a:extLst>
          </p:cNvPr>
          <p:cNvSpPr txBox="1"/>
          <p:nvPr/>
        </p:nvSpPr>
        <p:spPr>
          <a:xfrm>
            <a:off x="133002" y="953192"/>
            <a:ext cx="11576860" cy="369332"/>
          </a:xfrm>
          <a:prstGeom prst="rect">
            <a:avLst/>
          </a:prstGeom>
          <a:noFill/>
        </p:spPr>
        <p:txBody>
          <a:bodyPr wrap="square">
            <a:spAutoFit/>
          </a:bodyPr>
          <a:lstStyle/>
          <a:p>
            <a:pPr>
              <a:defRPr sz="1800" b="1">
                <a:solidFill>
                  <a:srgbClr val="0B57D0"/>
                </a:solidFill>
              </a:defRPr>
            </a:pPr>
            <a:r>
              <a:rPr lang="en-IN" dirty="0"/>
              <a:t>Agentic Architecture, Tools, Workflows, and Best Practices</a:t>
            </a:r>
          </a:p>
          <a:p>
            <a:pPr>
              <a:lnSpc>
                <a:spcPts val="1300"/>
              </a:lnSpc>
              <a:defRPr sz="1400" b="1">
                <a:solidFill>
                  <a:srgbClr val="003B8E"/>
                </a:solidFill>
              </a:defRPr>
            </a:pPr>
            <a:r>
              <a:rPr lang="en-IN" dirty="0"/>
              <a:t>Agentic Workflow (Core Design)</a:t>
            </a:r>
          </a:p>
          <a:p>
            <a:pPr>
              <a:lnSpc>
                <a:spcPts val="1300"/>
              </a:lnSpc>
              <a:defRPr sz="1300">
                <a:solidFill>
                  <a:srgbClr val="1A1A1A"/>
                </a:solidFill>
              </a:defRPr>
            </a:pPr>
            <a:r>
              <a:rPr lang="en-IN" dirty="0"/>
              <a:t>The system implements a ReAct-style interleaved reasoning and acting loop. The Planner Agent receives the natural-language command + current scene state, then issues a sequence of tool calls. It does not generate free-form chain-of-thought; it emits structured tool invocations that are executed by the Robotics Stack. After each tool returns, the agent reads the result, updates its episode memory, and decides the next call. This is the same agentic pattern used in SayCan, Code as Policies, and ReAct, implemented here with a fully open-weight VLM and no proprietary API dependency.</a:t>
            </a:r>
          </a:p>
          <a:p>
            <a:pPr>
              <a:lnSpc>
                <a:spcPts val="1300"/>
              </a:lnSpc>
              <a:defRPr sz="1400" b="1">
                <a:solidFill>
                  <a:srgbClr val="003B8E"/>
                </a:solidFill>
              </a:defRPr>
            </a:pPr>
            <a:r>
              <a:rPr lang="en-IN" dirty="0"/>
              <a:t>Multi-Agent System: Planner + Verifier</a:t>
            </a:r>
          </a:p>
          <a:p>
            <a:pPr>
              <a:lnSpc>
                <a:spcPts val="1300"/>
              </a:lnSpc>
              <a:defRPr sz="1300">
                <a:solidFill>
                  <a:srgbClr val="1A1A1A"/>
                </a:solidFill>
              </a:defRPr>
            </a:pPr>
            <a:r>
              <a:rPr lang="en-IN" b="1" dirty="0"/>
              <a:t xml:space="preserve">Planner Agent: </a:t>
            </a:r>
            <a:r>
              <a:rPr lang="en-IN" dirty="0"/>
              <a:t xml:space="preserve">Qwen2.5-VL / Llama 3.2-Vision hosted locally. Calls tools in sequence. Reads verifier output. Decides retry, replan, or success. </a:t>
            </a:r>
            <a:r>
              <a:rPr lang="en-IN" b="1" dirty="0"/>
              <a:t xml:space="preserve">Verifier Agent: </a:t>
            </a:r>
            <a:r>
              <a:rPr lang="en-IN" dirty="0"/>
              <a:t>Wraps verify_goal() and returns a structured status (done / retry / replan) that the Planner consumes. Not a binary pass/fail - the Verifier reasons about whether a retry of the same skill sequence is sufficient or whether a full replan is needed. This closed-loop structure makes the system genuinely adaptive rather than single-pass.</a:t>
            </a:r>
          </a:p>
          <a:p>
            <a:pPr>
              <a:lnSpc>
                <a:spcPts val="1300"/>
              </a:lnSpc>
              <a:defRPr sz="1400" b="1">
                <a:solidFill>
                  <a:srgbClr val="003B8E"/>
                </a:solidFill>
              </a:defRPr>
            </a:pPr>
            <a:r>
              <a:rPr lang="en-IN" dirty="0"/>
              <a:t>Memory and Context Handling</a:t>
            </a:r>
          </a:p>
          <a:p>
            <a:pPr>
              <a:lnSpc>
                <a:spcPts val="1300"/>
              </a:lnSpc>
              <a:defRPr sz="1300">
                <a:solidFill>
                  <a:srgbClr val="1A1A1A"/>
                </a:solidFill>
              </a:defRPr>
            </a:pPr>
            <a:r>
              <a:rPr lang="en-IN" dirty="0"/>
              <a:t>Episode memory tracks: parsed_intent (set once per episode, never re-parsed), confirmed_target_id (locked after first successful grasp, cleared on replan), failed_grasps list, retry_count, and episode_done flag. This prevents the agent from re-interpreting a command differently across retries while still allowing scene grounding to refresh on each iteration. Command intent parsing is separated from scene grounding - a key architectural best practice discovered during design: the agent must not misremember its goal just because the scene changed.</a:t>
            </a:r>
          </a:p>
          <a:p>
            <a:pPr>
              <a:lnSpc>
                <a:spcPts val="1300"/>
              </a:lnSpc>
              <a:defRPr sz="1400" b="1">
                <a:solidFill>
                  <a:srgbClr val="003B8E"/>
                </a:solidFill>
              </a:defRPr>
            </a:pPr>
            <a:r>
              <a:rPr lang="en-IN" dirty="0"/>
              <a:t>Tool Chaining and Structured Decision Log</a:t>
            </a:r>
          </a:p>
          <a:p>
            <a:pPr>
              <a:lnSpc>
                <a:spcPts val="1300"/>
              </a:lnSpc>
              <a:defRPr sz="1300">
                <a:solidFill>
                  <a:srgbClr val="1A1A1A"/>
                </a:solidFill>
              </a:defRPr>
            </a:pPr>
            <a:r>
              <a:rPr lang="en-IN" dirty="0"/>
              <a:t>All 6 tool calls are chained via the Planner Agent: parse_command feeds goal schema into resolve_target; build_scene_graph feeds into compute_goal_pose; execute_skill result feeds into verify_goal. Every tool call and its return value is appended to a structured JSON decision log {step, tool, inputs, result, agent_note}. This log enables post-episode failure attribution, ablation analysis, and reproducible debugging. It is the engineering equivalent of having a black box recorder for every manipulation episode - a practice directly informed by current AI safety engineering.</a:t>
            </a:r>
          </a:p>
          <a:p>
            <a:pPr>
              <a:lnSpc>
                <a:spcPts val="1300"/>
              </a:lnSpc>
              <a:defRPr sz="1400" b="1">
                <a:solidFill>
                  <a:srgbClr val="003B8E"/>
                </a:solidFill>
              </a:defRPr>
            </a:pPr>
            <a:r>
              <a:rPr lang="en-IN" dirty="0"/>
              <a:t>AI Development Tools Used</a:t>
            </a:r>
          </a:p>
          <a:p>
            <a:pPr>
              <a:lnSpc>
                <a:spcPts val="1300"/>
              </a:lnSpc>
              <a:defRPr sz="1300">
                <a:solidFill>
                  <a:srgbClr val="1A1A1A"/>
                </a:solidFill>
              </a:defRPr>
            </a:pPr>
            <a:r>
              <a:rPr lang="en-IN" b="1" dirty="0"/>
              <a:t xml:space="preserve">vLLM / llama.cpp: </a:t>
            </a:r>
            <a:r>
              <a:rPr lang="en-IN" dirty="0"/>
              <a:t xml:space="preserve">Local inference serving for the Planner Agent VLM with no external API. </a:t>
            </a:r>
            <a:r>
              <a:rPr lang="en-IN" b="1" dirty="0"/>
              <a:t xml:space="preserve">Hugging Face Transformers + PEFT/LoRA: </a:t>
            </a:r>
            <a:r>
              <a:rPr lang="en-IN" dirty="0"/>
              <a:t xml:space="preserve">For optional fine-tuning of language encoder. </a:t>
            </a:r>
            <a:r>
              <a:rPr lang="en-IN" b="1" dirty="0"/>
              <a:t xml:space="preserve">Ultralytics YOLO CLI: </a:t>
            </a:r>
            <a:r>
              <a:rPr lang="en-IN" dirty="0"/>
              <a:t xml:space="preserve">YOLOv8 training, validation, and inference pipeline. </a:t>
            </a:r>
            <a:r>
              <a:rPr lang="en-IN" b="1" dirty="0"/>
              <a:t xml:space="preserve">PyTorch + NumPy + SciPy + OpenCV: </a:t>
            </a:r>
            <a:r>
              <a:rPr lang="en-IN" dirty="0"/>
              <a:t xml:space="preserve">Core ML and vision computation. </a:t>
            </a:r>
            <a:r>
              <a:rPr lang="en-IN" b="1" dirty="0"/>
              <a:t xml:space="preserve">PyBullet: </a:t>
            </a:r>
            <a:r>
              <a:rPr lang="en-IN" dirty="0"/>
              <a:t>Physics simulation and robot control. All tools are open-source with permissive licenses.</a:t>
            </a:r>
          </a:p>
        </p:txBody>
      </p:sp>
    </p:spTree>
    <p:extLst>
      <p:ext uri="{BB962C8B-B14F-4D97-AF65-F5344CB8AC3E}">
        <p14:creationId xmlns:p14="http://schemas.microsoft.com/office/powerpoint/2010/main" val="1807807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4" name="Rectangle 3"/>
          <p:cNvSpPr/>
          <p:nvPr/>
        </p:nvSpPr>
        <p:spPr>
          <a:xfrm>
            <a:off x="0" y="0"/>
            <a:ext cx="12188952" cy="822960"/>
          </a:xfrm>
          <a:prstGeom prst="rect">
            <a:avLst/>
          </a:prstGeom>
          <a:solidFill>
            <a:srgbClr val="003B8E"/>
          </a:solidFill>
          <a:ln>
            <a:solidFill>
              <a:srgbClr val="0B57D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IN" sz="2800" b="1" dirty="0">
                <a:solidFill>
                  <a:srgbClr val="FFFFFF"/>
                </a:solidFill>
              </a:rPr>
              <a:t>[Optional] Additional Supporting Materials (Add more slides if required)</a:t>
            </a:r>
            <a:endParaRPr sz="2800" b="1" dirty="0">
              <a:solidFill>
                <a:srgbClr val="FFFFFF"/>
              </a:solidFill>
            </a:endParaRPr>
          </a:p>
        </p:txBody>
      </p:sp>
      <p:sp>
        <p:nvSpPr>
          <p:cNvPr id="3" name="TextBox 2">
            <a:extLst>
              <a:ext uri="{FF2B5EF4-FFF2-40B4-BE49-F238E27FC236}">
                <a16:creationId xmlns:a16="http://schemas.microsoft.com/office/drawing/2014/main" id="{F554654B-7908-41B0-92B7-940045A63731}"/>
              </a:ext>
            </a:extLst>
          </p:cNvPr>
          <p:cNvSpPr txBox="1"/>
          <p:nvPr/>
        </p:nvSpPr>
        <p:spPr>
          <a:xfrm>
            <a:off x="133002" y="953192"/>
            <a:ext cx="11576860" cy="369332"/>
          </a:xfrm>
          <a:prstGeom prst="rect">
            <a:avLst/>
          </a:prstGeom>
          <a:noFill/>
        </p:spPr>
        <p:txBody>
          <a:bodyPr wrap="square">
            <a:spAutoFit/>
          </a:bodyPr>
          <a:lstStyle/>
          <a:p>
            <a:pPr>
              <a:defRPr sz="1800" b="1">
                <a:solidFill>
                  <a:srgbClr val="0B57D0"/>
                </a:solidFill>
              </a:defRPr>
            </a:pPr>
            <a:r>
              <a:rPr lang="en-IN" dirty="0"/>
              <a:t>KPI Targets | Demo Plan | Implementation Roadmap | Deliverables</a:t>
            </a:r>
          </a:p>
          <a:p>
            <a:pPr>
              <a:lnSpc>
                <a:spcPts val="1300"/>
              </a:lnSpc>
              <a:defRPr sz="1400" b="1">
                <a:solidFill>
                  <a:srgbClr val="003B8E"/>
                </a:solidFill>
              </a:defRPr>
            </a:pPr>
            <a:r>
              <a:rPr lang="en-IN" dirty="0"/>
              <a:t>Quantitative KPI Targets (Measured Separately per Module)</a:t>
            </a:r>
          </a:p>
          <a:p>
            <a:pPr>
              <a:lnSpc>
                <a:spcPts val="1300"/>
              </a:lnSpc>
              <a:defRPr sz="1300">
                <a:solidFill>
                  <a:srgbClr val="1A1A1A"/>
                </a:solidFill>
              </a:defRPr>
            </a:pPr>
            <a:r>
              <a:rPr lang="en-IN" b="1" dirty="0"/>
              <a:t xml:space="preserve">TSR (Task Success Rate): </a:t>
            </a:r>
            <a:r>
              <a:rPr lang="en-IN" dirty="0"/>
              <a:t xml:space="preserve">80-85% — end-to-end episode success over full benchmark suite. </a:t>
            </a:r>
            <a:r>
              <a:rPr lang="en-IN" b="1" dirty="0"/>
              <a:t xml:space="preserve">GCA (Goal Condition Accuracy): </a:t>
            </a:r>
            <a:r>
              <a:rPr lang="en-IN" dirty="0"/>
              <a:t xml:space="preserve">90% — final state matches parsed goal relation/destination via geometric verifier. </a:t>
            </a:r>
            <a:r>
              <a:rPr lang="en-IN" b="1" dirty="0"/>
              <a:t xml:space="preserve">CIA (Command Interpretation Accuracy): </a:t>
            </a:r>
            <a:r>
              <a:rPr lang="en-IN" dirty="0"/>
              <a:t xml:space="preserve">85% — grounding correctness measured before execution. </a:t>
            </a:r>
            <a:r>
              <a:rPr lang="en-IN" b="1" dirty="0"/>
              <a:t xml:space="preserve">TCR (Task Completion Rate): </a:t>
            </a:r>
            <a:r>
              <a:rPr lang="en-IN" dirty="0"/>
              <a:t xml:space="preserve">80% — episodes completed without timeout or forced abort. </a:t>
            </a:r>
            <a:r>
              <a:rPr lang="en-IN" b="1" dirty="0"/>
              <a:t xml:space="preserve">RSR (Replanning Success Rate): </a:t>
            </a:r>
            <a:r>
              <a:rPr lang="en-IN" dirty="0"/>
              <a:t xml:space="preserve">60%+ — episodes that triggered replanning and still reached goal. </a:t>
            </a:r>
            <a:r>
              <a:rPr lang="en-IN" b="1" dirty="0"/>
              <a:t xml:space="preserve">Error Analysis Coverage: </a:t>
            </a:r>
            <a:r>
              <a:rPr lang="en-IN" dirty="0"/>
              <a:t>100% — every failure labelled (perception/grounding/planning/execution).</a:t>
            </a:r>
          </a:p>
          <a:p>
            <a:pPr>
              <a:lnSpc>
                <a:spcPts val="1300"/>
              </a:lnSpc>
              <a:defRPr sz="1400" b="1">
                <a:solidFill>
                  <a:srgbClr val="003B8E"/>
                </a:solidFill>
              </a:defRPr>
            </a:pPr>
            <a:r>
              <a:rPr lang="en-IN" dirty="0"/>
              <a:t>Demo Video Plan (5 Minimum + 3 Stretch Commands)</a:t>
            </a:r>
          </a:p>
          <a:p>
            <a:pPr>
              <a:lnSpc>
                <a:spcPts val="1300"/>
              </a:lnSpc>
              <a:defRPr sz="1300">
                <a:solidFill>
                  <a:srgbClr val="1A1A1A"/>
                </a:solidFill>
              </a:defRPr>
            </a:pPr>
            <a:r>
              <a:rPr lang="en-IN" dirty="0"/>
              <a:t>1. “Pick the red block and place it in the left tray” (baseline pick-and-place) | 2. “Pick the blue cylinder and place it in the center tray” (clutter + distractor) | 3. “Stack the green block on the yellow block” (stacking + stability check) | 4. “Move the red cube to the right of the blue cylinder” (relational grounding) | 5. “Pick the small red block, not the large red block” (disambiguation) | Stretch: “Place the green cylinder next to the yellow cube” | “Move the blue block in front of the red block” | “Put the cube on the right tray” (paraphrase). On-screen overlays: live command text, highlighted target, parsed goal schema, current skill state, final verdict.</a:t>
            </a:r>
          </a:p>
          <a:p>
            <a:pPr>
              <a:lnSpc>
                <a:spcPts val="1300"/>
              </a:lnSpc>
              <a:defRPr sz="1400" b="1">
                <a:solidFill>
                  <a:srgbClr val="003B8E"/>
                </a:solidFill>
              </a:defRPr>
            </a:pPr>
            <a:r>
              <a:rPr lang="en-IN" dirty="0"/>
              <a:t>Implementation Roadmap (5-7 Working Days)</a:t>
            </a:r>
          </a:p>
          <a:p>
            <a:pPr>
              <a:lnSpc>
                <a:spcPts val="1300"/>
              </a:lnSpc>
              <a:defRPr sz="1300">
                <a:solidFill>
                  <a:srgbClr val="1A1A1A"/>
                </a:solidFill>
              </a:defRPr>
            </a:pPr>
            <a:r>
              <a:rPr lang="en-IN" b="1" dirty="0"/>
              <a:t xml:space="preserve">Phase 1 (Day 1-1.5): </a:t>
            </a:r>
            <a:r>
              <a:rPr lang="en-IN" dirty="0"/>
              <a:t xml:space="preserve">PyBullet scene + arm URDF + object placement + deterministic reset + scripted pick-and-place validation. </a:t>
            </a:r>
            <a:r>
              <a:rPr lang="en-IN" b="1" dirty="0"/>
              <a:t xml:space="preserve">Phase 2 (Day 2): </a:t>
            </a:r>
            <a:r>
              <a:rPr lang="en-IN" dirty="0"/>
              <a:t xml:space="preserve">Command parser + goal schema + geometric verifier for tray/stack/relational goals. </a:t>
            </a:r>
            <a:r>
              <a:rPr lang="en-IN" b="1" dirty="0"/>
              <a:t xml:space="preserve">Phase 3 (Day 3): </a:t>
            </a:r>
            <a:r>
              <a:rPr lang="en-IN" dirty="0"/>
              <a:t xml:space="preserve">End-to-end baseline: perception + grounding + skill execution + evaluation loop + first demo video. </a:t>
            </a:r>
            <a:r>
              <a:rPr lang="en-IN" b="1" dirty="0"/>
              <a:t xml:space="preserve">Phase 4 (Day 4-5): </a:t>
            </a:r>
            <a:r>
              <a:rPr lang="en-IN" dirty="0"/>
              <a:t xml:space="preserve">Agentic layer integration + episode memory + Verifier Agent + replanning loop + decision log. Optionally: learned skill model from scripted trajectories. </a:t>
            </a:r>
            <a:r>
              <a:rPr lang="en-IN" b="1" dirty="0"/>
              <a:t xml:space="preserve">Phase 5 (Day 6): </a:t>
            </a:r>
            <a:r>
              <a:rPr lang="en-IN" dirty="0"/>
              <a:t>Official benchmark run, KPI tables, ablation results, final demo recording, repository and report finalisation.</a:t>
            </a:r>
          </a:p>
          <a:p>
            <a:pPr>
              <a:lnSpc>
                <a:spcPts val="1300"/>
              </a:lnSpc>
              <a:defRPr sz="1400" b="1">
                <a:solidFill>
                  <a:srgbClr val="003B8E"/>
                </a:solidFill>
              </a:defRPr>
            </a:pPr>
            <a:r>
              <a:rPr lang="en-IN" dirty="0"/>
              <a:t>Final Deliverables</a:t>
            </a:r>
          </a:p>
          <a:p>
            <a:pPr>
              <a:lnSpc>
                <a:spcPts val="1300"/>
              </a:lnSpc>
              <a:defRPr sz="1300">
                <a:solidFill>
                  <a:srgbClr val="1A1A1A"/>
                </a:solidFill>
              </a:defRPr>
            </a:pPr>
            <a:r>
              <a:rPr lang="en-IN" dirty="0"/>
              <a:t>Full Python/PyTorch repository (Apache-2.0) with simulation, perception, grounding, planning, evaluation, and demo scripts | Trained YOLOv8 detector checkpoint | Demo video (5+ commands with on-screen overlays) | KPI benchmark report (TSR/GCA/CIA/TCR/RSR with ablations and failure taxonomy) | Simulation-generated episode dataset (Creative Commons) | Technical report (this document updated with measured results) | Optional: hardware bridge note showing sim-to-real readiness on STS3215 arm.</a:t>
            </a:r>
          </a:p>
        </p:txBody>
      </p:sp>
    </p:spTree>
    <p:extLst>
      <p:ext uri="{BB962C8B-B14F-4D97-AF65-F5344CB8AC3E}">
        <p14:creationId xmlns:p14="http://schemas.microsoft.com/office/powerpoint/2010/main" val="12402218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58</TotalTime>
  <Words>259</Words>
  <Application>Microsoft Office PowerPoint</Application>
  <PresentationFormat>Custom</PresentationFormat>
  <Paragraphs>40</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Ankit Mahato/Advanced Technology Lab (ATL) /SRI-Bangalore/Staff Engineer/Samsung Electronics</cp:lastModifiedBy>
  <cp:revision>15</cp:revision>
  <dcterms:created xsi:type="dcterms:W3CDTF">2013-01-27T09:14:16Z</dcterms:created>
  <dcterms:modified xsi:type="dcterms:W3CDTF">2026-04-19T20:25:34Z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